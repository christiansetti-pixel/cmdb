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Calibri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-59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581650"/>
            <a:ext cx="109728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609600"/>
            <a:ext cx="3005137" cy="304800"/>
          </a:xfrm>
          <a:prstGeom prst="roundRect">
            <a:avLst>
              <a:gd name="adj" fmla="val 50000"/>
            </a:avLst>
          </a:prstGeom>
          <a:solidFill>
            <a:srgbClr val="132651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58165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1143000"/>
            <a:ext cx="9101137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lang="pt-BR" sz="3900" b="1" i="0" u="none" dirty="0" smtClean="0">
                <a:solidFill>
                  <a:srgbClr val="F8FAFC"/>
                </a:solidFill>
                <a:latin typeface="Plus Jakarta Sans"/>
              </a:rPr>
              <a:t> Relatório </a:t>
            </a:r>
            <a:r>
              <a:rPr sz="3900" b="1" i="0" u="none" smtClean="0">
                <a:solidFill>
                  <a:srgbClr val="F8FAFC"/>
                </a:solidFill>
                <a:latin typeface="Plus Jakarta Sans"/>
              </a:rPr>
              <a:t>Projeto </a:t>
            </a:r>
            <a:r>
              <a:rPr sz="3900" b="1" i="0" u="none">
                <a:solidFill>
                  <a:srgbClr val="F8FAFC"/>
                </a:solidFill>
                <a:latin typeface="Plus Jakarta Sans"/>
              </a:rPr>
              <a:t>de Banco de </a:t>
            </a:r>
            <a:r>
              <a:rPr sz="3900" b="1" i="0" u="none" smtClean="0">
                <a:solidFill>
                  <a:srgbClr val="F8FAFC"/>
                </a:solidFill>
                <a:latin typeface="Plus Jakarta Sans"/>
              </a:rPr>
              <a:t>Dados</a:t>
            </a:r>
            <a:endParaRPr sz="3900" b="1" i="0" u="none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9600" y="5819775"/>
            <a:ext cx="383118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smtClean="0">
                <a:solidFill>
                  <a:srgbClr val="64748B"/>
                </a:solidFill>
                <a:latin typeface="Plus Jakarta Sans"/>
              </a:rPr>
              <a:t>Aluno</a:t>
            </a:r>
            <a:r>
              <a:rPr lang="pt-BR" sz="1050" b="0" i="0" u="none" dirty="0" smtClean="0">
                <a:solidFill>
                  <a:srgbClr val="64748B"/>
                </a:solidFill>
                <a:latin typeface="Plus Jakarta Sans"/>
              </a:rPr>
              <a:t>: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600" y="6029325"/>
            <a:ext cx="1476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Christian Setti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0737" y="5734050"/>
            <a:ext cx="61395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smtClean="0">
                <a:solidFill>
                  <a:srgbClr val="64748B"/>
                </a:solidFill>
                <a:latin typeface="Plus Jakarta Sans"/>
              </a:rPr>
              <a:t>Professor</a:t>
            </a:r>
            <a:r>
              <a:rPr lang="pt-BR" sz="1050" b="0" i="0" u="none" dirty="0" smtClean="0">
                <a:solidFill>
                  <a:srgbClr val="64748B"/>
                </a:solidFill>
                <a:latin typeface="Plus Jakarta Sans"/>
              </a:rPr>
              <a:t>:</a:t>
            </a:r>
            <a:endParaRPr sz="1050" b="0" i="0" u="none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710737" y="5943600"/>
            <a:ext cx="16787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Lucas de Mattos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09600" y="1552575"/>
            <a:ext cx="3505200" cy="477202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509712"/>
            <a:ext cx="3505200" cy="477202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33303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4719" y="1933303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" y="1952353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69" y="2003788"/>
            <a:ext cx="26670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781050"/>
            <a:ext cx="7963719" cy="4154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tx2">
                <a:lumMod val="75000"/>
              </a:schemeClr>
            </a:solidFill>
            <a:prstDash val="solid"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Arial" pitchFamily="34" charset="0"/>
                <a:cs typeface="Arial" pitchFamily="34" charset="0"/>
              </a:rPr>
              <a:t>Por que utilizar um Banco de Dados Relacional?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68" y="306705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Integridade Referencial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3381375"/>
            <a:ext cx="2971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Conexão direta através de Chaves Primárias (PK) e Estrangeiras (FK).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7200" y="2557326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Recursos Avançados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4771" y="2867025"/>
            <a:ext cx="2971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Suporte nativo a cláusulas JOIN, Views, Procedures e Triggers.</a:t>
            </a:r>
          </a:p>
        </p:txBody>
      </p:sp>
      <p:sp>
        <p:nvSpPr>
          <p:cNvPr id="20" name="Retângulo de cantos arredondados 19"/>
          <p:cNvSpPr/>
          <p:nvPr/>
        </p:nvSpPr>
        <p:spPr>
          <a:xfrm>
            <a:off x="4514339" y="2003788"/>
            <a:ext cx="3143795" cy="3021874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noFill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57450"/>
            <a:ext cx="3555950" cy="1457325"/>
          </a:xfrm>
          <a:prstGeom prst="roundRect">
            <a:avLst>
              <a:gd name="adj" fmla="val 18926"/>
            </a:avLst>
          </a:prstGeom>
          <a:noFill/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152084"/>
            <a:ext cx="355595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0" y="365552"/>
            <a:ext cx="5770811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Modelo </a:t>
            </a:r>
            <a:r>
              <a:rPr sz="2700" b="1" i="0" u="none" smtClean="0">
                <a:solidFill>
                  <a:srgbClr val="0F172A"/>
                </a:solidFill>
                <a:latin typeface="Plus Jakarta Sans"/>
              </a:rPr>
              <a:t>Entidade-Relacionamento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9150" y="3086100"/>
            <a:ext cx="3921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• nome (VARCHAR)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305175"/>
            <a:ext cx="3921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• cpf_cnpj (VARCHAR)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3524250"/>
            <a:ext cx="3921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• telefone / endereço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4739368"/>
            <a:ext cx="3921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• nome (VARCHAR)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958443"/>
            <a:ext cx="3921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• estoque (FLOAT)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177518"/>
            <a:ext cx="3921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• valor (FLOAT)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50" y="2667000"/>
            <a:ext cx="1000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clientes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4320268"/>
            <a:ext cx="112014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produtos</a:t>
            </a:r>
          </a:p>
        </p:txBody>
      </p:sp>
      <p:sp>
        <p:nvSpPr>
          <p:cNvPr id="38" name="Retângulo de cantos arredondados 37"/>
          <p:cNvSpPr/>
          <p:nvPr/>
        </p:nvSpPr>
        <p:spPr>
          <a:xfrm>
            <a:off x="5921829" y="1115378"/>
            <a:ext cx="5416729" cy="5050292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Tabelacomdados.png"/>
          <p:cNvPicPr>
            <a:picLocks noChangeAspect="1"/>
          </p:cNvPicPr>
          <p:nvPr/>
        </p:nvPicPr>
        <p:blipFill>
          <a:blip r:embed="rId2"/>
          <a:srcRect r="26491"/>
          <a:stretch>
            <a:fillRect/>
          </a:stretch>
        </p:blipFill>
        <p:spPr>
          <a:xfrm>
            <a:off x="6456017" y="2744616"/>
            <a:ext cx="5479574" cy="3009514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211970" y="2062885"/>
            <a:ext cx="5886994" cy="4114528"/>
          </a:xfrm>
          <a:prstGeom prst="roundRect">
            <a:avLst>
              <a:gd name="adj" fmla="val 64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47" y="2247084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781050"/>
            <a:ext cx="3244414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2700" b="1" i="0" u="none" dirty="0" smtClean="0">
                <a:solidFill>
                  <a:srgbClr val="0F172A"/>
                </a:solidFill>
                <a:latin typeface="Plus Jakarta Sans"/>
              </a:rPr>
              <a:t>O que são </a:t>
            </a:r>
            <a:r>
              <a:rPr sz="2700" b="1" i="0" u="none" smtClean="0">
                <a:solidFill>
                  <a:srgbClr val="0F172A"/>
                </a:solidFill>
                <a:latin typeface="Plus Jakarta Sans"/>
              </a:rPr>
              <a:t>Tabelas</a:t>
            </a:r>
            <a:r>
              <a:rPr lang="pt-BR" sz="2700" b="1" i="0" u="none" dirty="0" smtClean="0">
                <a:solidFill>
                  <a:srgbClr val="0F172A"/>
                </a:solidFill>
                <a:latin typeface="Plus Jakarta Sans"/>
              </a:rPr>
              <a:t>?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9880" y="2513784"/>
            <a:ext cx="766364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1500" b="1" i="0" u="none" dirty="0" smtClean="0">
                <a:solidFill>
                  <a:srgbClr val="0F172A"/>
                </a:solidFill>
                <a:latin typeface="Plus Jakarta Sans"/>
              </a:rPr>
              <a:t>Tabelas: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9880" y="2866208"/>
            <a:ext cx="5045228" cy="76944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pt-BR" dirty="0" smtClean="0">
                <a:solidFill>
                  <a:schemeClr val="bg1">
                    <a:lumMod val="50000"/>
                  </a:schemeClr>
                </a:solidFill>
              </a:rPr>
              <a:t>Elas armazenam dados de  clientes   podendo   alterar dados e substituindo eles, tendo colunas e linhas armazenando em um Banco de Dados.</a:t>
            </a:r>
            <a:endParaRPr sz="1600" b="0" i="0" u="none">
              <a:solidFill>
                <a:schemeClr val="bg1">
                  <a:lumMod val="50000"/>
                </a:schemeClr>
              </a:solidFill>
              <a:latin typeface="Plus Jakarta Sans"/>
            </a:endParaRPr>
          </a:p>
        </p:txBody>
      </p:sp>
      <p:sp>
        <p:nvSpPr>
          <p:cNvPr id="9" name="Retângulo de cantos arredondados 8"/>
          <p:cNvSpPr/>
          <p:nvPr/>
        </p:nvSpPr>
        <p:spPr>
          <a:xfrm>
            <a:off x="449882" y="3753394"/>
            <a:ext cx="5419694" cy="2333898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de cantos arredondados 11"/>
          <p:cNvSpPr/>
          <p:nvPr/>
        </p:nvSpPr>
        <p:spPr>
          <a:xfrm>
            <a:off x="8281851" y="365760"/>
            <a:ext cx="2612572" cy="1576251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67929" y="1976437"/>
            <a:ext cx="3505200" cy="2400300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254" y="229076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079" y="2414587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Stored Procedures (Procedimentos Armazenados)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254" y="2938462"/>
            <a:ext cx="1045158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pt-BR" sz="1500" b="1" dirty="0" smtClean="0">
                <a:solidFill>
                  <a:srgbClr val="0F172A"/>
                </a:solidFill>
                <a:latin typeface="Plus Jakarta Sans"/>
              </a:rPr>
              <a:t>O que são?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2254" y="3290887"/>
            <a:ext cx="2971800" cy="1007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pt-BR" sz="1400" dirty="0" smtClean="0">
                <a:solidFill>
                  <a:schemeClr val="bg1">
                    <a:lumMod val="50000"/>
                  </a:schemeClr>
                </a:solidFill>
              </a:rPr>
              <a:t>Elas auxiliam na proteção do Banco de Dados contra invasões e armazenam a lógica e os dados diretamente no servidor do Banco de Dados.</a:t>
            </a:r>
            <a:endParaRPr sz="1350" b="0" i="0" u="none">
              <a:solidFill>
                <a:schemeClr val="bg1">
                  <a:lumMod val="50000"/>
                </a:schemeClr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38375"/>
            <a:ext cx="10972800" cy="2286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714875"/>
            <a:ext cx="10972800" cy="809625"/>
          </a:xfrm>
          <a:prstGeom prst="roundRect">
            <a:avLst>
              <a:gd name="adj" fmla="val 1411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5005387"/>
            <a:ext cx="257175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Consulta e Execução de Procedures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466975"/>
            <a:ext cx="1061085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3C5FD"/>
                </a:solidFill>
                <a:latin typeface="JetBrains Mono"/>
              </a:rPr>
              <a:t>BEGIN</a:t>
            </a:r>
            <a:r>
              <a:t>
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  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SELECT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c.codigo, p.nome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AS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produto, c.quantidade, c.data_compra, f.nome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AS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fornecedor</a:t>
            </a:r>
            <a:r>
              <a:t>
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  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FROM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compras c</a:t>
            </a:r>
            <a:r>
              <a:t>
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  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INNER JOIN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fornecedores f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ON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f.id = c.id_fornecedor</a:t>
            </a:r>
            <a:r>
              <a:t>
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  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INNER JOIN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produto p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ON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p.id = c.id_produtos</a:t>
            </a:r>
            <a:r>
              <a:t>
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  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WHERE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c.id_fornecedor = p_id_fornecedor</a:t>
            </a:r>
            <a:r>
              <a:t>
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  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AND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c.data_compra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BETWEEN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p_data_inicio </a:t>
            </a:r>
            <a:r>
              <a:rPr sz="1125" b="0" i="0" u="none">
                <a:solidFill>
                  <a:srgbClr val="F43F5E"/>
                </a:solidFill>
                <a:latin typeface="JetBrains Mono"/>
              </a:rPr>
              <a:t>AND</a:t>
            </a:r>
            <a:r>
              <a:rPr sz="1125" b="0" i="0" u="none">
                <a:solidFill>
                  <a:srgbClr val="F8FAFC"/>
                </a:solidFill>
                <a:latin typeface="JetBrains Mono"/>
              </a:rPr>
              <a:t> p_data_fim;</a:t>
            </a:r>
            <a:r>
              <a:t>
</a:t>
            </a:r>
            <a:r>
              <a:rPr sz="1125" b="0" i="0" u="none">
                <a:solidFill>
                  <a:srgbClr val="93C5FD"/>
                </a:solidFill>
                <a:latin typeface="JetBrains Mono"/>
              </a:rPr>
              <a:t>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4914900"/>
            <a:ext cx="762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Invocação do Procedimento (CALL)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5124450"/>
            <a:ext cx="762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293B"/>
                </a:solidFill>
                <a:latin typeface="JetBrains Mono"/>
              </a:rPr>
              <a:t>CALL sp_atualizar_produto(1, 'Massa Sabor Caseira 1kg', 99, 10);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38412"/>
            <a:ext cx="5314950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76687"/>
            <a:ext cx="5314950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Views: Tabelas Virtuais de Consolidação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2776537"/>
            <a:ext cx="63507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 que fazem?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071812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Agrupam dados calculados e aplicam filtros sumarizados para evitar consultas individuais repetitivas.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214812"/>
            <a:ext cx="635079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Benefício Negocial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510087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Traz métricas consolidadas (somas e médias de compras) prontas para tomada de decisão.</a:t>
            </a:r>
          </a:p>
        </p:txBody>
      </p:sp>
      <p:pic>
        <p:nvPicPr>
          <p:cNvPr id="12" name="Imagem 11" descr="Tabelacomdados.png"/>
          <p:cNvPicPr>
            <a:picLocks noChangeAspect="1"/>
          </p:cNvPicPr>
          <p:nvPr/>
        </p:nvPicPr>
        <p:blipFill>
          <a:blip r:embed="rId2"/>
          <a:srcRect r="27912"/>
          <a:stretch>
            <a:fillRect/>
          </a:stretch>
        </p:blipFill>
        <p:spPr>
          <a:xfrm>
            <a:off x="5855341" y="2538412"/>
            <a:ext cx="6336660" cy="35488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52575"/>
            <a:ext cx="3505200" cy="477202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1552575"/>
            <a:ext cx="3505200" cy="477202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1552575"/>
            <a:ext cx="3505200" cy="4772025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Triggers (Gatilhos Automáticos)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690937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Disparo Automático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043362"/>
            <a:ext cx="304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Executado pelo SGBD ao ocorrer INSERT, UPDATE ou DELETE.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562350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Atualização de Estoque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914775"/>
            <a:ext cx="3048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Ajusta automaticamente a quantidade de produtos em estoque.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690937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Registro de Modificação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043362"/>
            <a:ext cx="304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Grava em histórico quem alterou qualquer dado da tabela.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4637"/>
            <a:ext cx="10972800" cy="1343025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348162"/>
            <a:ext cx="10972800" cy="600075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348162"/>
            <a:ext cx="38100" cy="6000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Log de Alterações em Tabela Temporária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052762"/>
            <a:ext cx="113442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EXEMPLO DE REGISTRO CAPTURADO PELA 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538662"/>
            <a:ext cx="961160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Plus Jakarta Sans"/>
              </a:rPr>
              <a:t>A tabela temporária armazena os valores anteriores para auditoria completa e </a:t>
            </a:r>
            <a:r>
              <a:rPr sz="1350" b="1" i="0" u="none" smtClean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350" b="1" i="0" u="none">
                <a:solidFill>
                  <a:srgbClr val="1E40AF"/>
                </a:solidFill>
                <a:latin typeface="Plus Jakarta Sans"/>
              </a:rPr>
              <a:t>seguro em caso de </a:t>
            </a:r>
            <a:r>
              <a:rPr lang="pt-BR" sz="1350" b="1" dirty="0" smtClean="0">
                <a:solidFill>
                  <a:srgbClr val="1E40AF"/>
                </a:solidFill>
                <a:latin typeface="Plus Jakarta Sans"/>
              </a:rPr>
              <a:t>invasão no banco </a:t>
            </a:r>
            <a:r>
              <a:rPr sz="1350" b="1" i="0" u="none" smtClean="0">
                <a:solidFill>
                  <a:srgbClr val="1E40AF"/>
                </a:solidFill>
                <a:latin typeface="Plus Jakarta Sans"/>
              </a:rPr>
              <a:t>.</a:t>
            </a:r>
            <a:endParaRPr sz="1350" b="1" i="0" u="none">
              <a:solidFill>
                <a:srgbClr val="1E40AF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7725" y="3338512"/>
            <a:ext cx="31372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Produto Alterado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481387"/>
            <a:ext cx="31372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Sabão em Pó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9962" y="3338512"/>
            <a:ext cx="31372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Estoque Antigo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9962" y="3481387"/>
            <a:ext cx="31372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2626"/>
                </a:solidFill>
                <a:latin typeface="Plus Jakarta Sans"/>
              </a:rPr>
              <a:t>170 unidades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3338512"/>
            <a:ext cx="313729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Data da Alteração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481387"/>
            <a:ext cx="313729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2025-10-01 14:48:08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52737"/>
            <a:ext cx="3505200" cy="217170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52737"/>
            <a:ext cx="3505200" cy="217170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52737"/>
            <a:ext cx="3505200" cy="217170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67062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67062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67062"/>
            <a:ext cx="2667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Conclusão do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8616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Integridade de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38587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Estrutura relacional robusta que garante armazenamento seguro de dados de pessoas e empresas.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58616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Automação Inteligente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938587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Uso combinado de Stored Procedures e Triggers para automação de tarefas repetitivas.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586162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Agilidade em Relatórios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938587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Views que simplificam o cálculo de somatórios e médias para análise gerencial.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852612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2005012"/>
            <a:ext cx="3810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89524" y="2728912"/>
            <a:ext cx="3612951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8FAFC"/>
                </a:solidFill>
                <a:latin typeface="Plus Jakarta Sans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340</Words>
  <Application>Microsoft Macintosh PowerPoint</Application>
  <PresentationFormat>Personalizar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Plus Jakarta Sans</vt:lpstr>
      <vt:lpstr>JetBrains Mono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Aluno</dc:creator>
  <dc:description>generated using python-pptx</dc:description>
  <cp:lastModifiedBy>Aluno</cp:lastModifiedBy>
  <cp:revision>5</cp:revision>
  <dcterms:created xsi:type="dcterms:W3CDTF">2013-01-27T09:14:16Z</dcterms:created>
  <dcterms:modified xsi:type="dcterms:W3CDTF">2026-10-15T17:32:25Z</dcterms:modified>
</cp:coreProperties>
</file>